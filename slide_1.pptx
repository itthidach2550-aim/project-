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0"/>
  </p:notesMasterIdLst>
  <p:handoutMasterIdLst>
    <p:handoutMasterId r:id="rId21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21" r:id="rId11"/>
    <p:sldId id="315" r:id="rId12"/>
    <p:sldId id="317" r:id="rId13"/>
    <p:sldId id="318" r:id="rId14"/>
    <p:sldId id="324" r:id="rId15"/>
    <p:sldId id="319" r:id="rId16"/>
    <p:sldId id="323" r:id="rId17"/>
    <p:sldId id="322" r:id="rId18"/>
    <p:sldId id="297" r:id="rId19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6335" autoAdjust="0"/>
  </p:normalViewPr>
  <p:slideViewPr>
    <p:cSldViewPr snapToGrid="0" snapToObjects="1">
      <p:cViewPr varScale="1">
        <p:scale>
          <a:sx n="107" d="100"/>
          <a:sy n="107" d="100"/>
        </p:scale>
        <p:origin x="64" y="56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46B8E-B2D8-788E-9A7D-0F6F8050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915EC-2A86-52C8-7ED8-936B4F2EA2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B93C0A-F8E7-85DC-D4A4-A4786D270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3527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B7E44-C8AD-BF62-2459-23E62DC73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2673B8-0EC2-BB74-B81C-782E2AEE48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6DE612-3ABC-78A3-8C31-25FB847FB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4262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ollama.com/download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89" y="1010858"/>
            <a:ext cx="6392421" cy="1520462"/>
          </a:xfrm>
        </p:spPr>
        <p:txBody>
          <a:bodyPr anchor="ctr"/>
          <a:lstStyle/>
          <a:p>
            <a:r>
              <a:rPr lang="th-TH" sz="8000" dirty="0">
                <a:latin typeface="Cordia New" panose="020B0304020202020204" pitchFamily="34" charset="-34"/>
                <a:cs typeface="Cordia New" panose="020B0304020202020204" pitchFamily="34" charset="-34"/>
              </a:rPr>
              <a:t>โครงงาน</a:t>
            </a:r>
            <a:r>
              <a:rPr lang="th-TH" sz="60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br>
              <a:rPr lang="th-TH" sz="6000" dirty="0">
                <a:latin typeface="Cordia New" panose="020B0304020202020204" pitchFamily="34" charset="-34"/>
                <a:cs typeface="Cordia New" panose="020B0304020202020204" pitchFamily="34" charset="-34"/>
              </a:rPr>
            </a:br>
            <a:r>
              <a:rPr lang="en-US" sz="7200" dirty="0">
                <a:latin typeface="Cordia New" panose="020B0304020202020204" pitchFamily="34" charset="-34"/>
                <a:cs typeface="Cordia New" panose="020B0304020202020204" pitchFamily="34" charset="-34"/>
              </a:rPr>
              <a:t>find text app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9007F2-4DE8-FBAD-2B30-7F76526F2F57}"/>
              </a:ext>
            </a:extLst>
          </p:cNvPr>
          <p:cNvSpPr txBox="1"/>
          <p:nvPr/>
        </p:nvSpPr>
        <p:spPr>
          <a:xfrm>
            <a:off x="3711039" y="3203016"/>
            <a:ext cx="48451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วิชา พื้นฐานการออกแบบและพัฒนาซอฟต์แวร์</a:t>
            </a:r>
          </a:p>
          <a:p>
            <a:pPr algn="ctr"/>
            <a:r>
              <a:rPr lang="en-US" sz="28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03376116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664" y="591266"/>
            <a:ext cx="6583680" cy="553575"/>
          </a:xfrm>
        </p:spPr>
        <p:txBody>
          <a:bodyPr/>
          <a:lstStyle/>
          <a:p>
            <a:r>
              <a:rPr lang="th-TH" sz="4000" dirty="0"/>
              <a:t>สมาชิกในกลุ่ม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515" y="1742110"/>
            <a:ext cx="6583680" cy="3207344"/>
          </a:xfrm>
        </p:spPr>
        <p:txBody>
          <a:bodyPr/>
          <a:lstStyle/>
          <a:p>
            <a:r>
              <a:rPr lang="th-TH" dirty="0">
                <a:latin typeface="Cordia New" panose="020B0304020202020204" pitchFamily="34" charset="-34"/>
                <a:cs typeface="Cordia New" panose="020B0304020202020204" pitchFamily="34" charset="-34"/>
              </a:rPr>
              <a:t>นายปัญญา สุขถาวร</a:t>
            </a:r>
            <a:r>
              <a:rPr lang="en-US" dirty="0">
                <a:latin typeface="Cordia New" panose="020B0304020202020204" pitchFamily="34" charset="-34"/>
                <a:cs typeface="Cordia New" panose="020B0304020202020204" pitchFamily="34" charset="-34"/>
              </a:rPr>
              <a:t>        69030358</a:t>
            </a:r>
            <a:endParaRPr lang="th-TH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th-TH" dirty="0">
                <a:latin typeface="Cordia New" panose="020B0304020202020204" pitchFamily="34" charset="-34"/>
                <a:cs typeface="Cordia New" panose="020B0304020202020204" pitchFamily="34" charset="-34"/>
              </a:rPr>
              <a:t>นายศุภกรณ์ โพธิ์เจริญ </a:t>
            </a:r>
            <a:r>
              <a:rPr lang="en-US" dirty="0">
                <a:latin typeface="Cordia New" panose="020B0304020202020204" pitchFamily="34" charset="-34"/>
                <a:cs typeface="Cordia New" panose="020B0304020202020204" pitchFamily="34" charset="-34"/>
              </a:rPr>
              <a:t>    69030413</a:t>
            </a:r>
          </a:p>
          <a:p>
            <a:r>
              <a:rPr lang="th-TH" dirty="0">
                <a:latin typeface="Cordia New" panose="020B0304020202020204" pitchFamily="34" charset="-34"/>
                <a:cs typeface="Cordia New" panose="020B0304020202020204" pitchFamily="34" charset="-34"/>
              </a:rPr>
              <a:t>นายศักย์ศรณ์ ทองคำพูล</a:t>
            </a:r>
            <a:r>
              <a:rPr lang="en-US" dirty="0">
                <a:latin typeface="Cordia New" panose="020B0304020202020204" pitchFamily="34" charset="-34"/>
                <a:cs typeface="Cordia New" panose="020B0304020202020204" pitchFamily="34" charset="-34"/>
              </a:rPr>
              <a:t>  69030229</a:t>
            </a:r>
            <a:endParaRPr lang="th-TH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th-TH" dirty="0">
                <a:latin typeface="Cordia New" panose="020B0304020202020204" pitchFamily="34" charset="-34"/>
                <a:cs typeface="Cordia New" panose="020B0304020202020204" pitchFamily="34" charset="-34"/>
              </a:rPr>
              <a:t>นายอิทธิเดช อิ่มสบาย</a:t>
            </a:r>
            <a:r>
              <a:rPr lang="en-US" dirty="0">
                <a:latin typeface="Cordia New" panose="020B0304020202020204" pitchFamily="34" charset="-34"/>
                <a:cs typeface="Cordia New" panose="020B0304020202020204" pitchFamily="34" charset="-34"/>
              </a:rPr>
              <a:t>      69030431</a:t>
            </a:r>
            <a:endParaRPr lang="th-TH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endParaRPr lang="en-US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804" y="633033"/>
            <a:ext cx="3099556" cy="487311"/>
          </a:xfrm>
        </p:spPr>
        <p:txBody>
          <a:bodyPr/>
          <a:lstStyle/>
          <a:p>
            <a:r>
              <a:rPr lang="th-TH" sz="4000" dirty="0">
                <a:latin typeface="Cordia New" panose="020B0304020202020204" pitchFamily="34" charset="-34"/>
                <a:cs typeface="Cordia New" panose="020B0304020202020204" pitchFamily="34" charset="-34"/>
              </a:rPr>
              <a:t>ความเป็นมา</a:t>
            </a:r>
            <a:endParaRPr lang="en-US" sz="40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E3A5E0-2565-00FC-C767-E78546F48C14}"/>
              </a:ext>
            </a:extLst>
          </p:cNvPr>
          <p:cNvSpPr txBox="1"/>
          <p:nvPr/>
        </p:nvSpPr>
        <p:spPr>
          <a:xfrm>
            <a:off x="11196132" y="508343"/>
            <a:ext cx="358560" cy="376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Arial Black" panose="020B0A04020102020204" pitchFamily="34" charset="0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1FB00B-629F-1D1B-37DF-4580494E74AF}"/>
              </a:ext>
            </a:extLst>
          </p:cNvPr>
          <p:cNvSpPr txBox="1"/>
          <p:nvPr/>
        </p:nvSpPr>
        <p:spPr>
          <a:xfrm>
            <a:off x="811804" y="1373073"/>
            <a:ext cx="81049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โครงงานนี้เกิดมาจากปัญหาการหาคำที่ต้องการหาในไฟล์ไม่พบหรือใช้เวลานานในการค้นหา</a:t>
            </a:r>
          </a:p>
          <a:p>
            <a:r>
              <a:rPr lang="th-TH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จึงทำให้เกิดการจัดทำโครงงานนี้ขึ้นมาเพื่อแก้ไขปัญญาดังกล่าวให้ลดลงและทำให้สะดวกขึ้น</a:t>
            </a:r>
            <a:endParaRPr lang="en-US" sz="2400" dirty="0">
              <a:solidFill>
                <a:schemeClr val="accent6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402" y="646268"/>
            <a:ext cx="5259554" cy="559427"/>
          </a:xfrm>
        </p:spPr>
        <p:txBody>
          <a:bodyPr/>
          <a:lstStyle/>
          <a:p>
            <a:r>
              <a:rPr lang="th-TH" sz="4000" dirty="0">
                <a:latin typeface="Cordia New" panose="020B0304020202020204" pitchFamily="34" charset="-34"/>
                <a:cs typeface="Cordia New" panose="020B0304020202020204" pitchFamily="34" charset="-34"/>
              </a:rPr>
              <a:t>วัตถุประสงค์</a:t>
            </a:r>
            <a:endParaRPr lang="en-US" sz="40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555EF6-F6BE-A8A5-6727-9F156715CBBD}"/>
              </a:ext>
            </a:extLst>
          </p:cNvPr>
          <p:cNvSpPr txBox="1"/>
          <p:nvPr/>
        </p:nvSpPr>
        <p:spPr>
          <a:xfrm>
            <a:off x="831619" y="1514103"/>
            <a:ext cx="607981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เพื่อให้สามารถหาคำหรือหัวข้อที่ต้องการภายใน</a:t>
            </a:r>
            <a:r>
              <a:rPr lang="en-US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 PDF </a:t>
            </a:r>
            <a:r>
              <a:rPr lang="th-TH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ได้ง่ายขึ้น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เพื่อลดระยะเวลาในการอ่านไฟล์ </a:t>
            </a:r>
            <a:r>
              <a:rPr lang="en-US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PDF</a:t>
            </a:r>
            <a:endParaRPr lang="th-TH" sz="2400" dirty="0">
              <a:solidFill>
                <a:schemeClr val="accent6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เพื่อปกป้องข้อมูล </a:t>
            </a:r>
            <a:r>
              <a:rPr lang="en-US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PDF</a:t>
            </a:r>
            <a:endParaRPr lang="th-TH" sz="2400" dirty="0">
              <a:solidFill>
                <a:schemeClr val="accent6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th-TH" sz="2400" dirty="0">
              <a:solidFill>
                <a:schemeClr val="accent6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endParaRPr lang="th-TH" sz="2400" dirty="0">
              <a:solidFill>
                <a:schemeClr val="accent6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endParaRPr lang="th-TH" sz="2400" dirty="0">
              <a:solidFill>
                <a:schemeClr val="accent6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endParaRPr lang="en-US" sz="2400" dirty="0">
              <a:solidFill>
                <a:schemeClr val="accent6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0AA7CC-1DB9-D193-79C9-C8E617B84FD6}"/>
              </a:ext>
            </a:extLst>
          </p:cNvPr>
          <p:cNvSpPr txBox="1"/>
          <p:nvPr/>
        </p:nvSpPr>
        <p:spPr>
          <a:xfrm>
            <a:off x="11210309" y="510638"/>
            <a:ext cx="1098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Arial Black" panose="020B0A04020102020204" pitchFamily="34" charset="0"/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C42D28-5C50-54EE-9AB6-D21E2AE5AC40}"/>
              </a:ext>
            </a:extLst>
          </p:cNvPr>
          <p:cNvSpPr/>
          <p:nvPr/>
        </p:nvSpPr>
        <p:spPr>
          <a:xfrm>
            <a:off x="8858992" y="3479470"/>
            <a:ext cx="3333008" cy="337853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6797" y="124613"/>
            <a:ext cx="7965461" cy="994164"/>
          </a:xfrm>
        </p:spPr>
        <p:txBody>
          <a:bodyPr/>
          <a:lstStyle/>
          <a:p>
            <a:r>
              <a:rPr lang="th-TH" sz="4000" dirty="0">
                <a:latin typeface="Cordia New" panose="020B0304020202020204" pitchFamily="34" charset="-34"/>
                <a:cs typeface="Cordia New" panose="020B0304020202020204" pitchFamily="34" charset="-34"/>
              </a:rPr>
              <a:t>ฟังก์ชันของระบบ</a:t>
            </a:r>
            <a:endParaRPr lang="en-US" sz="40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12428" y="1463237"/>
            <a:ext cx="7965460" cy="45397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h-TH" sz="2600" dirty="0">
                <a:latin typeface="Cordia New" panose="020B0304020202020204" pitchFamily="34" charset="-34"/>
                <a:cs typeface="Cordia New" panose="020B0304020202020204" pitchFamily="34" charset="-34"/>
              </a:rPr>
              <a:t>1. การค้นหาคำ </a:t>
            </a:r>
            <a:endParaRPr lang="en-US" sz="26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indent="0">
              <a:buNone/>
            </a:pPr>
            <a:r>
              <a:rPr lang="th-TH" sz="2600" dirty="0">
                <a:latin typeface="Cordia New" panose="020B0304020202020204" pitchFamily="34" charset="-34"/>
                <a:cs typeface="Cordia New" panose="020B0304020202020204" pitchFamily="34" charset="-34"/>
              </a:rPr>
              <a:t>2. สรุปรายหน้าที่พบ </a:t>
            </a:r>
            <a:endParaRPr lang="en-US" sz="26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indent="0">
              <a:buNone/>
            </a:pPr>
            <a:r>
              <a:rPr lang="th-TH" sz="2600" dirty="0">
                <a:latin typeface="Cordia New" panose="020B0304020202020204" pitchFamily="34" charset="-34"/>
                <a:cs typeface="Cordia New" panose="020B0304020202020204" pitchFamily="34" charset="-34"/>
              </a:rPr>
              <a:t>3. ไฮไลค์คำที่พบ </a:t>
            </a:r>
            <a:endParaRPr lang="en-US" sz="26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indent="0">
              <a:buNone/>
            </a:pPr>
            <a:r>
              <a:rPr lang="th-TH" sz="2600" dirty="0">
                <a:latin typeface="Cordia New" panose="020B0304020202020204" pitchFamily="34" charset="-34"/>
                <a:cs typeface="Cordia New" panose="020B0304020202020204" pitchFamily="34" charset="-34"/>
              </a:rPr>
              <a:t>4. ปุ่มล้างการค้นหา </a:t>
            </a:r>
            <a:endParaRPr lang="en-US" sz="26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indent="0">
              <a:buNone/>
            </a:pPr>
            <a:r>
              <a:rPr lang="th-TH" sz="2600" dirty="0">
                <a:latin typeface="Cordia New" panose="020B0304020202020204" pitchFamily="34" charset="-34"/>
                <a:cs typeface="Cordia New" panose="020B0304020202020204" pitchFamily="34" charset="-34"/>
              </a:rPr>
              <a:t>5. วิเคราะห์หน้าด้วย </a:t>
            </a:r>
            <a:r>
              <a:rPr lang="en-US" sz="2600" dirty="0">
                <a:latin typeface="Cordia New" panose="020B0304020202020204" pitchFamily="34" charset="-34"/>
                <a:cs typeface="Cordia New" panose="020B0304020202020204" pitchFamily="34" charset="-34"/>
              </a:rPr>
              <a:t>ai </a:t>
            </a:r>
          </a:p>
          <a:p>
            <a:pPr marL="0" indent="0">
              <a:buNone/>
            </a:pPr>
            <a:r>
              <a:rPr lang="en-US" sz="2600" dirty="0">
                <a:latin typeface="Cordia New" panose="020B0304020202020204" pitchFamily="34" charset="-34"/>
                <a:cs typeface="Cordia New" panose="020B0304020202020204" pitchFamily="34" charset="-34"/>
              </a:rPr>
              <a:t>6. </a:t>
            </a:r>
            <a:r>
              <a:rPr lang="th-TH" sz="2600" dirty="0">
                <a:latin typeface="Cordia New" panose="020B0304020202020204" pitchFamily="34" charset="-34"/>
                <a:cs typeface="Cordia New" panose="020B0304020202020204" pitchFamily="34" charset="-34"/>
              </a:rPr>
              <a:t>ปุ่มยกเลิกการวิเคราะห์ </a:t>
            </a:r>
            <a:r>
              <a:rPr lang="en-US" sz="2600" dirty="0">
                <a:latin typeface="Cordia New" panose="020B0304020202020204" pitchFamily="34" charset="-34"/>
                <a:cs typeface="Cordia New" panose="020B0304020202020204" pitchFamily="34" charset="-34"/>
              </a:rPr>
              <a:t>ai</a:t>
            </a:r>
          </a:p>
          <a:p>
            <a:pPr marL="0" indent="0">
              <a:buNone/>
            </a:pPr>
            <a:r>
              <a:rPr lang="en-US" sz="2600" dirty="0">
                <a:latin typeface="Cordia New" panose="020B0304020202020204" pitchFamily="34" charset="-34"/>
                <a:cs typeface="Cordia New" panose="020B0304020202020204" pitchFamily="34" charset="-34"/>
              </a:rPr>
              <a:t>7. </a:t>
            </a:r>
            <a:r>
              <a:rPr lang="th-TH" sz="2600" dirty="0">
                <a:latin typeface="Cordia New" panose="020B0304020202020204" pitchFamily="34" charset="-34"/>
                <a:cs typeface="Cordia New" panose="020B0304020202020204" pitchFamily="34" charset="-34"/>
              </a:rPr>
              <a:t>พื้นที่จดโน้ต</a:t>
            </a:r>
          </a:p>
          <a:p>
            <a:pPr marL="0" indent="0">
              <a:buNone/>
            </a:pPr>
            <a:r>
              <a:rPr lang="en-US" sz="2600" dirty="0">
                <a:latin typeface="Cordia New" panose="020B0304020202020204" pitchFamily="34" charset="-34"/>
                <a:cs typeface="Cordia New" panose="020B0304020202020204" pitchFamily="34" charset="-34"/>
              </a:rPr>
              <a:t>8</a:t>
            </a:r>
            <a:r>
              <a:rPr lang="th-TH" sz="2600" dirty="0">
                <a:latin typeface="Cordia New" panose="020B0304020202020204" pitchFamily="34" charset="-34"/>
                <a:cs typeface="Cordia New" panose="020B0304020202020204" pitchFamily="34" charset="-34"/>
              </a:rPr>
              <a:t>.</a:t>
            </a:r>
            <a:r>
              <a:rPr lang="en-US" sz="26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th-TH" sz="2600" dirty="0">
                <a:latin typeface="Cordia New" panose="020B0304020202020204" pitchFamily="34" charset="-34"/>
                <a:cs typeface="Cordia New" panose="020B0304020202020204" pitchFamily="34" charset="-34"/>
              </a:rPr>
              <a:t>เปิดไฟล์ </a:t>
            </a:r>
            <a:r>
              <a:rPr lang="en-US" sz="2600" dirty="0">
                <a:latin typeface="Cordia New" panose="020B0304020202020204" pitchFamily="34" charset="-34"/>
                <a:cs typeface="Cordia New" panose="020B0304020202020204" pitchFamily="34" charset="-34"/>
              </a:rPr>
              <a:t>PDF</a:t>
            </a:r>
          </a:p>
          <a:p>
            <a:pPr marL="0" indent="0">
              <a:buNone/>
            </a:pPr>
            <a:r>
              <a:rPr lang="en-US" sz="2600" dirty="0">
                <a:latin typeface="Cordia New" panose="020B0304020202020204" pitchFamily="34" charset="-34"/>
                <a:cs typeface="Cordia New" panose="020B0304020202020204" pitchFamily="34" charset="-34"/>
              </a:rPr>
              <a:t>9</a:t>
            </a:r>
            <a:r>
              <a:rPr lang="th-TH" sz="2600" dirty="0">
                <a:latin typeface="Cordia New" panose="020B0304020202020204" pitchFamily="34" charset="-34"/>
                <a:cs typeface="Cordia New" panose="020B0304020202020204" pitchFamily="34" charset="-34"/>
              </a:rPr>
              <a:t>.</a:t>
            </a:r>
            <a:r>
              <a:rPr lang="en-US" sz="26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th-TH" sz="2600" dirty="0">
                <a:latin typeface="Cordia New" panose="020B0304020202020204" pitchFamily="34" charset="-34"/>
                <a:cs typeface="Cordia New" panose="020B0304020202020204" pitchFamily="34" charset="-34"/>
              </a:rPr>
              <a:t>แถบควบคุมหน้า</a:t>
            </a:r>
            <a:r>
              <a:rPr lang="en-US" sz="2600" dirty="0">
                <a:latin typeface="Cordia New" panose="020B0304020202020204" pitchFamily="34" charset="-34"/>
                <a:cs typeface="Cordia New" panose="020B0304020202020204" pitchFamily="34" charset="-34"/>
              </a:rPr>
              <a:t> PDF</a:t>
            </a:r>
            <a:endParaRPr lang="th-TH" sz="26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indent="0">
              <a:buNone/>
            </a:pPr>
            <a:r>
              <a:rPr lang="en-US" sz="2600" dirty="0">
                <a:latin typeface="Cordia New" panose="020B0304020202020204" pitchFamily="34" charset="-34"/>
                <a:cs typeface="Cordia New" panose="020B0304020202020204" pitchFamily="34" charset="-34"/>
              </a:rPr>
              <a:t>10</a:t>
            </a:r>
            <a:r>
              <a:rPr lang="th-TH" sz="2600" dirty="0">
                <a:latin typeface="Cordia New" panose="020B0304020202020204" pitchFamily="34" charset="-34"/>
                <a:cs typeface="Cordia New" panose="020B0304020202020204" pitchFamily="34" charset="-34"/>
              </a:rPr>
              <a:t>.</a:t>
            </a:r>
            <a:r>
              <a:rPr lang="en-US" sz="26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th-TH" sz="2600" dirty="0">
                <a:latin typeface="Cordia New" panose="020B0304020202020204" pitchFamily="34" charset="-34"/>
                <a:cs typeface="Cordia New" panose="020B0304020202020204" pitchFamily="34" charset="-34"/>
              </a:rPr>
              <a:t>ระบบย่อ</a:t>
            </a:r>
            <a:r>
              <a:rPr lang="en-US" sz="2600" dirty="0">
                <a:latin typeface="Cordia New" panose="020B0304020202020204" pitchFamily="34" charset="-34"/>
                <a:cs typeface="Cordia New" panose="020B0304020202020204" pitchFamily="34" charset="-34"/>
              </a:rPr>
              <a:t>-</a:t>
            </a:r>
            <a:r>
              <a:rPr lang="th-TH" sz="2600" dirty="0">
                <a:latin typeface="Cordia New" panose="020B0304020202020204" pitchFamily="34" charset="-34"/>
                <a:cs typeface="Cordia New" panose="020B0304020202020204" pitchFamily="34" charset="-34"/>
              </a:rPr>
              <a:t>ขยายหน้าเอกสาร</a:t>
            </a:r>
            <a:endParaRPr lang="en-US" sz="26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endParaRPr lang="en-US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070" y="394956"/>
            <a:ext cx="7043617" cy="595974"/>
          </a:xfrm>
        </p:spPr>
        <p:txBody>
          <a:bodyPr/>
          <a:lstStyle/>
          <a:p>
            <a:r>
              <a:rPr lang="th-TH" sz="4000" dirty="0">
                <a:latin typeface="Cordia New" panose="020B0304020202020204" pitchFamily="34" charset="-34"/>
                <a:cs typeface="Cordia New" panose="020B0304020202020204" pitchFamily="34" charset="-34"/>
              </a:rPr>
              <a:t>โมเดลพัฒนาซอฟต์แวร์</a:t>
            </a:r>
            <a:endParaRPr lang="en-US" sz="40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847070" y="1115416"/>
            <a:ext cx="3111871" cy="679498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Waterfall Model</a:t>
            </a:r>
          </a:p>
          <a:p>
            <a:endParaRPr lang="en-US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A222C5-0921-D001-D7FA-C9D6548337A5}"/>
              </a:ext>
            </a:extLst>
          </p:cNvPr>
          <p:cNvSpPr txBox="1"/>
          <p:nvPr/>
        </p:nvSpPr>
        <p:spPr>
          <a:xfrm>
            <a:off x="4143953" y="1929360"/>
            <a:ext cx="4162301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นายปัญญา สุขถาวร</a:t>
            </a:r>
            <a:r>
              <a:rPr lang="en-US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        69030358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เขียนโค้ดจัดทำ </a:t>
            </a:r>
            <a:r>
              <a:rPr lang="en-US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Desktop app</a:t>
            </a:r>
            <a:endParaRPr lang="th-TH" sz="2400" dirty="0">
              <a:solidFill>
                <a:schemeClr val="accent6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endParaRPr lang="th-TH" sz="2400" dirty="0">
              <a:solidFill>
                <a:schemeClr val="accent6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th-TH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นายศุภกรณ์ โพธิ์เจริญ </a:t>
            </a:r>
            <a:r>
              <a:rPr lang="en-US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    69030413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จัดทำฐานข้อมูล </a:t>
            </a:r>
            <a:r>
              <a:rPr lang="en-US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Database</a:t>
            </a:r>
            <a:endParaRPr lang="th-TH" sz="2400" dirty="0">
              <a:solidFill>
                <a:schemeClr val="accent6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endParaRPr lang="en-US" sz="2400" dirty="0">
              <a:solidFill>
                <a:schemeClr val="accent6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th-TH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นายศักย์ศรณ์ ทองคำพูล</a:t>
            </a:r>
            <a:r>
              <a:rPr lang="en-US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  69030229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จัดทำการเพิ่มฟังก์ชัน</a:t>
            </a:r>
          </a:p>
          <a:p>
            <a:endParaRPr lang="th-TH" sz="2400" dirty="0">
              <a:solidFill>
                <a:schemeClr val="accent6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th-TH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นายอิทธิเดช อิ่มสบาย</a:t>
            </a:r>
            <a:r>
              <a:rPr lang="en-US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      69030431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จัดทำสไลด์นำเสนอ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6508" y="150398"/>
            <a:ext cx="4220844" cy="999746"/>
          </a:xfrm>
        </p:spPr>
        <p:txBody>
          <a:bodyPr/>
          <a:lstStyle/>
          <a:p>
            <a:r>
              <a:rPr lang="th-TH" sz="4000" dirty="0">
                <a:latin typeface="Cordia New" panose="020B0304020202020204" pitchFamily="34" charset="-34"/>
                <a:cs typeface="Cordia New" panose="020B0304020202020204" pitchFamily="34" charset="-34"/>
              </a:rPr>
              <a:t>การติดตั้งโปรแกรม</a:t>
            </a:r>
            <a:endParaRPr lang="en-US" sz="40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46508" y="1371600"/>
            <a:ext cx="9879436" cy="55754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ขั้นตอนที่ 1</a:t>
            </a:r>
            <a:r>
              <a:rPr lang="th-TH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 . ติดตั้ง </a:t>
            </a:r>
            <a:r>
              <a:rPr lang="en-US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Python version 3.10 </a:t>
            </a:r>
            <a:r>
              <a:rPr lang="th-TH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ขึ้นไป </a:t>
            </a:r>
          </a:p>
          <a:p>
            <a:pPr marL="0" indent="0">
              <a:buNone/>
            </a:pP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ขั้นตอนที่ 2. </a:t>
            </a:r>
            <a:r>
              <a:rPr lang="th-TH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อัพเดต </a:t>
            </a:r>
            <a:r>
              <a:rPr lang="en-US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pip </a:t>
            </a:r>
            <a:r>
              <a:rPr lang="th-TH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ในเครื่องด้วยคำสั่ง </a:t>
            </a:r>
            <a:r>
              <a:rPr lang="en-US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python -m pip install --upgrade pip </a:t>
            </a:r>
            <a:endParaRPr lang="th-TH" sz="20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indent="0">
              <a:buNone/>
            </a:pP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ชั้นตอนที่ 3. </a:t>
            </a:r>
            <a:r>
              <a:rPr lang="th-TH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ติดตั้งแพ็คเกจที่ต้องใช้งาน </a:t>
            </a:r>
            <a:r>
              <a:rPr lang="en-US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pip install PyQt6 </a:t>
            </a:r>
            <a:r>
              <a:rPr lang="en-US" sz="2000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pymupdf</a:t>
            </a:r>
            <a:r>
              <a:rPr lang="en-US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000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ollama</a:t>
            </a:r>
            <a:r>
              <a:rPr lang="en-US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endParaRPr lang="th-TH" sz="20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indent="0">
              <a:buNone/>
            </a:pP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ขั้นตอนที่ 4. </a:t>
            </a:r>
            <a:r>
              <a:rPr lang="th-TH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ติดตั้งและเปิดใช้งาน </a:t>
            </a:r>
            <a:r>
              <a:rPr lang="en-US" sz="2000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Ollama</a:t>
            </a:r>
            <a:r>
              <a:rPr lang="en-US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endParaRPr lang="th-TH" sz="20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indent="0">
              <a:buNone/>
            </a:pPr>
            <a:r>
              <a:rPr lang="th-TH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   </a:t>
            </a:r>
            <a:r>
              <a:rPr lang="en-US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4.1 </a:t>
            </a:r>
            <a:r>
              <a:rPr lang="th-TH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ดาวน์โหลดโปรแกรม </a:t>
            </a:r>
            <a:r>
              <a:rPr lang="en-US" sz="2000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Ollama</a:t>
            </a:r>
            <a:r>
              <a:rPr lang="en-US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th-TH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จากเว็บไซต์: </a:t>
            </a:r>
            <a:r>
              <a:rPr lang="en-US" sz="2000" b="1" dirty="0">
                <a:latin typeface="Cordia New" panose="020B0304020202020204" pitchFamily="34" charset="-34"/>
                <a:cs typeface="Cordia New" panose="020B0304020202020204" pitchFamily="34" charset="-34"/>
                <a:hlinkClick r:id="rId3"/>
              </a:rPr>
              <a:t>https://ollama.com/download</a:t>
            </a:r>
            <a:r>
              <a:rPr lang="en-US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endParaRPr lang="th-TH" sz="20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indent="0">
              <a:buNone/>
            </a:pPr>
            <a:r>
              <a:rPr lang="th-TH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   </a:t>
            </a:r>
            <a:r>
              <a:rPr lang="en-US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4.2 </a:t>
            </a:r>
            <a:r>
              <a:rPr lang="th-TH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ติดตั้งโปรแกรม </a:t>
            </a:r>
            <a:r>
              <a:rPr lang="en-US" sz="2000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Ollama</a:t>
            </a:r>
            <a:r>
              <a:rPr lang="en-US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th-TH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ลงในเครื่อง </a:t>
            </a:r>
          </a:p>
          <a:p>
            <a:pPr marL="0" indent="0">
              <a:buNone/>
            </a:pPr>
            <a:r>
              <a:rPr lang="th-TH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   4.3 เปิด </a:t>
            </a:r>
            <a:r>
              <a:rPr lang="en-US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Terminal </a:t>
            </a:r>
            <a:r>
              <a:rPr lang="th-TH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หรือ </a:t>
            </a:r>
            <a:r>
              <a:rPr lang="en-US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Command Prompt </a:t>
            </a:r>
            <a:r>
              <a:rPr lang="th-TH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แล้วสั่งดาวน์โหลดโมเดลภาษาไทย (</a:t>
            </a:r>
            <a:r>
              <a:rPr lang="en-US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qwen2.5:7b): </a:t>
            </a:r>
            <a:endParaRPr lang="th-TH" sz="20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indent="0">
              <a:buNone/>
            </a:pPr>
            <a:r>
              <a:rPr lang="th-TH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   </a:t>
            </a:r>
            <a:r>
              <a:rPr lang="en-US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4.4 </a:t>
            </a:r>
            <a:r>
              <a:rPr lang="th-TH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ใช้คำสั่ง </a:t>
            </a:r>
            <a:r>
              <a:rPr lang="en-US" sz="2000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ollama</a:t>
            </a:r>
            <a:r>
              <a:rPr lang="en-US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 run qwen2.5:7b </a:t>
            </a:r>
            <a:endParaRPr lang="th-TH" sz="20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indent="0">
              <a:buNone/>
            </a:pPr>
            <a:r>
              <a:rPr lang="th-TH" sz="2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ขั้นตอนที่ 5.</a:t>
            </a:r>
            <a:r>
              <a:rPr lang="th-TH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 ดาวน์โหลดโค้ดและรันโปรแกรม </a:t>
            </a:r>
          </a:p>
          <a:p>
            <a:pPr marL="0" indent="0">
              <a:buNone/>
            </a:pPr>
            <a:r>
              <a:rPr lang="th-TH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   5.1 สร้างไฟล์โค้ดชื่อ </a:t>
            </a:r>
            <a:r>
              <a:rPr lang="en-US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app.py </a:t>
            </a:r>
            <a:r>
              <a:rPr lang="th-TH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หรือ </a:t>
            </a:r>
            <a:r>
              <a:rPr lang="en-US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project1.py </a:t>
            </a:r>
            <a:r>
              <a:rPr lang="th-TH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ในโฟลเดอร์ที่คุณต้องการ แล้วนำโค้ดทั้งหมดไปวางและบันทึก </a:t>
            </a:r>
          </a:p>
          <a:p>
            <a:pPr marL="0" indent="0">
              <a:buNone/>
            </a:pPr>
            <a:r>
              <a:rPr lang="th-TH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   5.2 เปิด </a:t>
            </a:r>
            <a:r>
              <a:rPr lang="en-US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Terminal / Command Prompt </a:t>
            </a:r>
            <a:r>
              <a:rPr lang="th-TH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แล้วเข้าไปยังโฟลเดอร์ที่เก็บไฟล์ เช่น:  </a:t>
            </a:r>
            <a:r>
              <a:rPr lang="en-US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cd /path/to/your/folder  </a:t>
            </a:r>
            <a:endParaRPr lang="th-TH" sz="20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0" indent="0">
              <a:buNone/>
            </a:pPr>
            <a:r>
              <a:rPr lang="th-TH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   </a:t>
            </a:r>
            <a:r>
              <a:rPr lang="en-US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5.3 </a:t>
            </a:r>
            <a:r>
              <a:rPr lang="th-TH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สั่งรันโปรแกรม: </a:t>
            </a:r>
            <a:r>
              <a:rPr lang="en-US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macOS / Linux: bash  python3 app.py </a:t>
            </a:r>
            <a:r>
              <a:rPr lang="th-TH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Windows: bash  python app.py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592" y="457199"/>
            <a:ext cx="7796464" cy="611192"/>
          </a:xfrm>
        </p:spPr>
        <p:txBody>
          <a:bodyPr/>
          <a:lstStyle/>
          <a:p>
            <a:r>
              <a:rPr lang="th-TH" sz="4000" dirty="0">
                <a:latin typeface="Cordia New" panose="020B0304020202020204" pitchFamily="34" charset="-34"/>
                <a:cs typeface="Cordia New" panose="020B0304020202020204" pitchFamily="34" charset="-34"/>
              </a:rPr>
              <a:t>โครงสร้างโครงงานในภาพรวม</a:t>
            </a:r>
            <a:endParaRPr lang="en-US" sz="40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B73DB8F-FD8A-CD94-3D73-F81E46BB692A}"/>
              </a:ext>
            </a:extLst>
          </p:cNvPr>
          <p:cNvSpPr/>
          <p:nvPr/>
        </p:nvSpPr>
        <p:spPr>
          <a:xfrm>
            <a:off x="2369128" y="1172385"/>
            <a:ext cx="1520042" cy="5225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8075FD-C307-2E69-81ED-2908639E997F}"/>
              </a:ext>
            </a:extLst>
          </p:cNvPr>
          <p:cNvSpPr/>
          <p:nvPr/>
        </p:nvSpPr>
        <p:spPr>
          <a:xfrm>
            <a:off x="308758" y="3482439"/>
            <a:ext cx="1466603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B06B49-A7A9-E648-61D2-6601513B1F3D}"/>
              </a:ext>
            </a:extLst>
          </p:cNvPr>
          <p:cNvSpPr/>
          <p:nvPr/>
        </p:nvSpPr>
        <p:spPr>
          <a:xfrm>
            <a:off x="1946245" y="4736835"/>
            <a:ext cx="2198243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F82208-23EA-6B0B-0074-DF6952F048DA}"/>
              </a:ext>
            </a:extLst>
          </p:cNvPr>
          <p:cNvSpPr/>
          <p:nvPr/>
        </p:nvSpPr>
        <p:spPr>
          <a:xfrm>
            <a:off x="2208811" y="2152598"/>
            <a:ext cx="184067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C86E3A-F67A-B0F9-1903-C540DF79E09C}"/>
              </a:ext>
            </a:extLst>
          </p:cNvPr>
          <p:cNvSpPr/>
          <p:nvPr/>
        </p:nvSpPr>
        <p:spPr>
          <a:xfrm>
            <a:off x="4569026" y="3499653"/>
            <a:ext cx="1466603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228F62-1096-C17D-5402-15646B45102E}"/>
              </a:ext>
            </a:extLst>
          </p:cNvPr>
          <p:cNvSpPr/>
          <p:nvPr/>
        </p:nvSpPr>
        <p:spPr>
          <a:xfrm>
            <a:off x="6778830" y="4736835"/>
            <a:ext cx="1466603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DEDDA0-16B4-B775-79B1-210940213C37}"/>
              </a:ext>
            </a:extLst>
          </p:cNvPr>
          <p:cNvSpPr/>
          <p:nvPr/>
        </p:nvSpPr>
        <p:spPr>
          <a:xfrm>
            <a:off x="6778829" y="5844016"/>
            <a:ext cx="1466603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EA6265-7368-0041-B2A9-AC9E13F03532}"/>
              </a:ext>
            </a:extLst>
          </p:cNvPr>
          <p:cNvSpPr/>
          <p:nvPr/>
        </p:nvSpPr>
        <p:spPr>
          <a:xfrm>
            <a:off x="4629397" y="4736835"/>
            <a:ext cx="1557647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iamond 19">
            <a:extLst>
              <a:ext uri="{FF2B5EF4-FFF2-40B4-BE49-F238E27FC236}">
                <a16:creationId xmlns:a16="http://schemas.microsoft.com/office/drawing/2014/main" id="{83EB6C86-D017-C590-D3DE-05DFF4F5108A}"/>
              </a:ext>
            </a:extLst>
          </p:cNvPr>
          <p:cNvSpPr/>
          <p:nvPr/>
        </p:nvSpPr>
        <p:spPr>
          <a:xfrm>
            <a:off x="2486029" y="3140963"/>
            <a:ext cx="1286240" cy="1229096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BDE70D-9FF2-7F40-6335-A7D99E82DAE4}"/>
              </a:ext>
            </a:extLst>
          </p:cNvPr>
          <p:cNvSpPr txBox="1"/>
          <p:nvPr/>
        </p:nvSpPr>
        <p:spPr>
          <a:xfrm>
            <a:off x="2764464" y="1252826"/>
            <a:ext cx="994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เริ่มต้น</a:t>
            </a:r>
            <a:endParaRPr lang="en-US" dirty="0">
              <a:solidFill>
                <a:schemeClr val="accent6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F1AF5E0-89AF-18FD-86E5-3E7C53185BF9}"/>
              </a:ext>
            </a:extLst>
          </p:cNvPr>
          <p:cNvSpPr/>
          <p:nvPr/>
        </p:nvSpPr>
        <p:spPr>
          <a:xfrm>
            <a:off x="2324593" y="5844016"/>
            <a:ext cx="1520042" cy="5225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30BA97-9996-4089-39BB-FCF7186B1411}"/>
              </a:ext>
            </a:extLst>
          </p:cNvPr>
          <p:cNvSpPr txBox="1"/>
          <p:nvPr/>
        </p:nvSpPr>
        <p:spPr>
          <a:xfrm>
            <a:off x="6956451" y="5946304"/>
            <a:ext cx="1281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วิเคราะห์ด้วย </a:t>
            </a:r>
            <a:r>
              <a:rPr lang="en-US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AI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E93FED-8A4B-FDD0-E811-CD448BAA0601}"/>
              </a:ext>
            </a:extLst>
          </p:cNvPr>
          <p:cNvSpPr txBox="1"/>
          <p:nvPr/>
        </p:nvSpPr>
        <p:spPr>
          <a:xfrm>
            <a:off x="1946245" y="4813426"/>
            <a:ext cx="2198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แสดงผลและ </a:t>
            </a:r>
            <a:r>
              <a:rPr lang="en-US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Highlight</a:t>
            </a:r>
            <a:r>
              <a:rPr lang="th-TH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 สีเหลือง</a:t>
            </a:r>
            <a:endParaRPr lang="en-US" dirty="0">
              <a:solidFill>
                <a:schemeClr val="accent6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FC4EB1-80F0-F192-94EF-D11C53E13831}"/>
              </a:ext>
            </a:extLst>
          </p:cNvPr>
          <p:cNvSpPr txBox="1"/>
          <p:nvPr/>
        </p:nvSpPr>
        <p:spPr>
          <a:xfrm>
            <a:off x="4736273" y="4848798"/>
            <a:ext cx="1557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สร้างหน้าต่างรายการ </a:t>
            </a:r>
            <a:endParaRPr lang="en-US" dirty="0">
              <a:solidFill>
                <a:schemeClr val="accent6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A5BE4A-7CC6-B6EC-5BA7-6216C7CED2DA}"/>
              </a:ext>
            </a:extLst>
          </p:cNvPr>
          <p:cNvSpPr txBox="1"/>
          <p:nvPr/>
        </p:nvSpPr>
        <p:spPr>
          <a:xfrm>
            <a:off x="6778830" y="4813426"/>
            <a:ext cx="1646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กดเลือกหน้ารายการ</a:t>
            </a:r>
            <a:endParaRPr lang="en-US" dirty="0">
              <a:solidFill>
                <a:schemeClr val="accent6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13C759-2519-68BB-5BFD-C5645B1C1CE3}"/>
              </a:ext>
            </a:extLst>
          </p:cNvPr>
          <p:cNvSpPr txBox="1"/>
          <p:nvPr/>
        </p:nvSpPr>
        <p:spPr>
          <a:xfrm>
            <a:off x="2274968" y="2206707"/>
            <a:ext cx="1944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พิมพ์คำที่ต้องการค้นหา</a:t>
            </a:r>
            <a:endParaRPr lang="en-US" dirty="0">
              <a:solidFill>
                <a:schemeClr val="accent6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3A5605-CC3A-8DD2-B2C1-3103A211B522}"/>
              </a:ext>
            </a:extLst>
          </p:cNvPr>
          <p:cNvSpPr txBox="1"/>
          <p:nvPr/>
        </p:nvSpPr>
        <p:spPr>
          <a:xfrm>
            <a:off x="479841" y="3499653"/>
            <a:ext cx="1128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ตรวจสอบพบ</a:t>
            </a:r>
            <a:endParaRPr lang="en-US" dirty="0">
              <a:solidFill>
                <a:schemeClr val="accent6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A665AC-F3BE-207C-F485-8BFEC4051F47}"/>
              </a:ext>
            </a:extLst>
          </p:cNvPr>
          <p:cNvSpPr txBox="1"/>
          <p:nvPr/>
        </p:nvSpPr>
        <p:spPr>
          <a:xfrm>
            <a:off x="2669461" y="3443843"/>
            <a:ext cx="994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  ประมวล</a:t>
            </a:r>
          </a:p>
          <a:p>
            <a:r>
              <a:rPr lang="th-TH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ผลคำค้นหา</a:t>
            </a:r>
            <a:endParaRPr lang="en-US" dirty="0">
              <a:solidFill>
                <a:schemeClr val="accent6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9533B5-0020-DD8B-0433-82565EF6CF26}"/>
              </a:ext>
            </a:extLst>
          </p:cNvPr>
          <p:cNvSpPr txBox="1"/>
          <p:nvPr/>
        </p:nvSpPr>
        <p:spPr>
          <a:xfrm>
            <a:off x="4686792" y="3532310"/>
            <a:ext cx="1189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ตรวจสอบไม่พบ</a:t>
            </a:r>
            <a:endParaRPr lang="en-US" dirty="0">
              <a:solidFill>
                <a:schemeClr val="accent6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FDD23A-B2B9-F8F1-266B-76FC543B3FEE}"/>
              </a:ext>
            </a:extLst>
          </p:cNvPr>
          <p:cNvSpPr txBox="1"/>
          <p:nvPr/>
        </p:nvSpPr>
        <p:spPr>
          <a:xfrm>
            <a:off x="2750356" y="5929911"/>
            <a:ext cx="994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สิ้นสุด</a:t>
            </a:r>
            <a:endParaRPr lang="en-US" dirty="0">
              <a:solidFill>
                <a:schemeClr val="accent6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F6308FC-5794-3FA6-60EC-F0554239D5F5}"/>
              </a:ext>
            </a:extLst>
          </p:cNvPr>
          <p:cNvCxnSpPr>
            <a:cxnSpLocks/>
            <a:stCxn id="10" idx="4"/>
            <a:endCxn id="13" idx="0"/>
          </p:cNvCxnSpPr>
          <p:nvPr/>
        </p:nvCxnSpPr>
        <p:spPr>
          <a:xfrm>
            <a:off x="3129149" y="1694899"/>
            <a:ext cx="0" cy="457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E76226A-92FE-EC51-CAE9-B3341C6AEBAE}"/>
              </a:ext>
            </a:extLst>
          </p:cNvPr>
          <p:cNvCxnSpPr>
            <a:cxnSpLocks/>
            <a:stCxn id="13" idx="2"/>
            <a:endCxn id="20" idx="0"/>
          </p:cNvCxnSpPr>
          <p:nvPr/>
        </p:nvCxnSpPr>
        <p:spPr>
          <a:xfrm>
            <a:off x="3129149" y="2675112"/>
            <a:ext cx="0" cy="465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A98CBC4-07B9-DB55-B97A-BF3E2115E437}"/>
              </a:ext>
            </a:extLst>
          </p:cNvPr>
          <p:cNvCxnSpPr>
            <a:cxnSpLocks/>
            <a:stCxn id="20" idx="1"/>
            <a:endCxn id="11" idx="3"/>
          </p:cNvCxnSpPr>
          <p:nvPr/>
        </p:nvCxnSpPr>
        <p:spPr>
          <a:xfrm flipH="1" flipV="1">
            <a:off x="1775361" y="3743696"/>
            <a:ext cx="710668" cy="11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91257A2-8DE7-E416-516C-95840C6A7146}"/>
              </a:ext>
            </a:extLst>
          </p:cNvPr>
          <p:cNvCxnSpPr>
            <a:cxnSpLocks/>
          </p:cNvCxnSpPr>
          <p:nvPr/>
        </p:nvCxnSpPr>
        <p:spPr>
          <a:xfrm flipV="1">
            <a:off x="5302328" y="2419878"/>
            <a:ext cx="0" cy="10358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F49373F-A082-6D96-D33A-7F14812A6AAB}"/>
              </a:ext>
            </a:extLst>
          </p:cNvPr>
          <p:cNvCxnSpPr>
            <a:stCxn id="20" idx="3"/>
            <a:endCxn id="14" idx="1"/>
          </p:cNvCxnSpPr>
          <p:nvPr/>
        </p:nvCxnSpPr>
        <p:spPr>
          <a:xfrm>
            <a:off x="3772269" y="3755511"/>
            <a:ext cx="796757" cy="5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78FF7D1-67B8-FB7B-9CA9-8F9F9E65B819}"/>
              </a:ext>
            </a:extLst>
          </p:cNvPr>
          <p:cNvCxnSpPr>
            <a:cxnSpLocks/>
          </p:cNvCxnSpPr>
          <p:nvPr/>
        </p:nvCxnSpPr>
        <p:spPr>
          <a:xfrm flipH="1" flipV="1">
            <a:off x="4049487" y="2413855"/>
            <a:ext cx="1252841" cy="60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D3C1140-D25E-DF8B-6771-F768BFA73079}"/>
              </a:ext>
            </a:extLst>
          </p:cNvPr>
          <p:cNvCxnSpPr>
            <a:stCxn id="11" idx="2"/>
          </p:cNvCxnSpPr>
          <p:nvPr/>
        </p:nvCxnSpPr>
        <p:spPr>
          <a:xfrm flipH="1">
            <a:off x="1042059" y="4004953"/>
            <a:ext cx="1" cy="10525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2F21E9F-936D-32A1-20C4-E9A96B126E97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1042060" y="4998092"/>
            <a:ext cx="9041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BAFC5F6-51A9-C102-3F92-C0F6ACDD45F2}"/>
              </a:ext>
            </a:extLst>
          </p:cNvPr>
          <p:cNvCxnSpPr>
            <a:cxnSpLocks/>
            <a:stCxn id="24" idx="3"/>
            <a:endCxn id="19" idx="1"/>
          </p:cNvCxnSpPr>
          <p:nvPr/>
        </p:nvCxnSpPr>
        <p:spPr>
          <a:xfrm>
            <a:off x="4144488" y="4998092"/>
            <a:ext cx="4849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650AA6C3-D15E-732A-50C2-65505DF36ACC}"/>
              </a:ext>
            </a:extLst>
          </p:cNvPr>
          <p:cNvCxnSpPr>
            <a:endCxn id="26" idx="1"/>
          </p:cNvCxnSpPr>
          <p:nvPr/>
        </p:nvCxnSpPr>
        <p:spPr>
          <a:xfrm>
            <a:off x="6187044" y="4998092"/>
            <a:ext cx="5917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336B3B87-D972-AD89-EC43-8EA356AF2D83}"/>
              </a:ext>
            </a:extLst>
          </p:cNvPr>
          <p:cNvCxnSpPr>
            <a:stCxn id="15" idx="2"/>
            <a:endCxn id="18" idx="0"/>
          </p:cNvCxnSpPr>
          <p:nvPr/>
        </p:nvCxnSpPr>
        <p:spPr>
          <a:xfrm flipH="1">
            <a:off x="7512131" y="5259349"/>
            <a:ext cx="1" cy="584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9DEFAA1-4077-EFDF-7601-C33F8A3CF88A}"/>
              </a:ext>
            </a:extLst>
          </p:cNvPr>
          <p:cNvCxnSpPr>
            <a:stCxn id="18" idx="1"/>
            <a:endCxn id="22" idx="6"/>
          </p:cNvCxnSpPr>
          <p:nvPr/>
        </p:nvCxnSpPr>
        <p:spPr>
          <a:xfrm flipH="1">
            <a:off x="3844635" y="6105273"/>
            <a:ext cx="29341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74" y="252874"/>
            <a:ext cx="7631709" cy="1091627"/>
          </a:xfrm>
        </p:spPr>
        <p:txBody>
          <a:bodyPr/>
          <a:lstStyle/>
          <a:p>
            <a:r>
              <a:rPr lang="th-TH" sz="4000" dirty="0">
                <a:latin typeface="Cordia New" panose="020B0304020202020204" pitchFamily="34" charset="-34"/>
                <a:cs typeface="Cordia New" panose="020B0304020202020204" pitchFamily="34" charset="-34"/>
              </a:rPr>
              <a:t>โค้ด</a:t>
            </a:r>
            <a:endParaRPr lang="en-US" sz="40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483358" y="1034069"/>
            <a:ext cx="3186621" cy="620864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หน้าแอพตอนเปิดใช้งาน</a:t>
            </a:r>
            <a:endParaRPr lang="en-US" sz="20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ED08B13-1D57-071E-C4A7-82E1A7B42F5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173006" y="639504"/>
            <a:ext cx="5071274" cy="2614335"/>
          </a:xfr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9D39B64-ABC6-CFF3-C91F-3C0F49B374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348" y="3429000"/>
            <a:ext cx="4474943" cy="2992618"/>
          </a:xfrm>
          <a:prstGeom prst="rect">
            <a:avLst/>
          </a:prstGeom>
        </p:spPr>
      </p:pic>
      <p:sp>
        <p:nvSpPr>
          <p:cNvPr id="21" name="Content Placeholder 7">
            <a:extLst>
              <a:ext uri="{FF2B5EF4-FFF2-40B4-BE49-F238E27FC236}">
                <a16:creationId xmlns:a16="http://schemas.microsoft.com/office/drawing/2014/main" id="{770EE217-4BA1-6A11-D79B-30174318B306}"/>
              </a:ext>
            </a:extLst>
          </p:cNvPr>
          <p:cNvSpPr txBox="1">
            <a:spLocks/>
          </p:cNvSpPr>
          <p:nvPr/>
        </p:nvSpPr>
        <p:spPr>
          <a:xfrm>
            <a:off x="5405177" y="3729464"/>
            <a:ext cx="4605722" cy="1608494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74523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20243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5963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ดึงข้อมูลปัจจุบันแล้วสั่งให้ </a:t>
            </a:r>
            <a:r>
              <a:rPr lang="en-US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ai </a:t>
            </a:r>
            <a:r>
              <a:rPr lang="en-US" sz="2000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ollama</a:t>
            </a:r>
            <a:r>
              <a:rPr lang="en-US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th-TH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เป็นคนสรุปหน้า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ใช้ภาษา</a:t>
            </a:r>
            <a:r>
              <a:rPr lang="en-US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 python</a:t>
            </a:r>
            <a:endParaRPr lang="th-TH" sz="20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เชื่อม </a:t>
            </a:r>
            <a:r>
              <a:rPr lang="en-US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Database PostgreSQL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601" y="416761"/>
            <a:ext cx="7843837" cy="1012782"/>
          </a:xfrm>
        </p:spPr>
        <p:txBody>
          <a:bodyPr/>
          <a:lstStyle/>
          <a:p>
            <a:r>
              <a:rPr lang="th-TH" sz="4000" dirty="0">
                <a:latin typeface="Cordia New" panose="020B0304020202020204" pitchFamily="34" charset="-34"/>
                <a:cs typeface="Cordia New" panose="020B0304020202020204" pitchFamily="34" charset="-34"/>
              </a:rPr>
              <a:t>โค้ด</a:t>
            </a:r>
            <a:endParaRPr lang="en-US" sz="40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49663" y="774914"/>
            <a:ext cx="4017238" cy="2106064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dirty="0">
                <a:latin typeface="Cordia New" panose="020B0304020202020204" pitchFamily="34" charset="-34"/>
                <a:cs typeface="Cordia New" panose="020B0304020202020204" pitchFamily="34" charset="-34"/>
              </a:rPr>
              <a:t>คลาสหน้าต่างหลักของโปรแกรม รวมการควบคุมการแสดงผล </a:t>
            </a:r>
            <a:r>
              <a:rPr lang="en-US" dirty="0">
                <a:latin typeface="Cordia New" panose="020B0304020202020204" pitchFamily="34" charset="-34"/>
                <a:cs typeface="Cordia New" panose="020B0304020202020204" pitchFamily="34" charset="-34"/>
              </a:rPr>
              <a:t>PDF, </a:t>
            </a:r>
            <a:r>
              <a:rPr lang="th-TH" dirty="0">
                <a:latin typeface="Cordia New" panose="020B0304020202020204" pitchFamily="34" charset="-34"/>
                <a:cs typeface="Cordia New" panose="020B0304020202020204" pitchFamily="34" charset="-34"/>
              </a:rPr>
              <a:t>ระบบค้นหาคำ, เมนูเครื่องมือ และระบบจดโน้ตเข้าไว้ด้วยกัน</a:t>
            </a:r>
            <a:endParaRPr lang="en-US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00991C-9D56-A3FC-43DD-6B682314BCB9}"/>
              </a:ext>
            </a:extLst>
          </p:cNvPr>
          <p:cNvSpPr/>
          <p:nvPr/>
        </p:nvSpPr>
        <p:spPr>
          <a:xfrm>
            <a:off x="9366674" y="4633199"/>
            <a:ext cx="3219450" cy="222480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EA046C-0D2A-25A2-ACF9-9CC2E12BE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4764" y="634029"/>
            <a:ext cx="3794899" cy="28857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96D6720-D98D-FE93-6FEF-60E92C6762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649" y="3680285"/>
            <a:ext cx="5154405" cy="263626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9AE0DD3-4C36-8B98-B832-D96C2978B3F6}"/>
              </a:ext>
            </a:extLst>
          </p:cNvPr>
          <p:cNvSpPr txBox="1"/>
          <p:nvPr/>
        </p:nvSpPr>
        <p:spPr>
          <a:xfrm>
            <a:off x="5796643" y="3877886"/>
            <a:ext cx="61068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400" b="0" i="0" dirty="0">
                <a:solidFill>
                  <a:schemeClr val="accent6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สร้างปุ่มเปิดไฟล์ </a:t>
            </a:r>
            <a:r>
              <a:rPr lang="en-US" sz="2400" b="0" i="0" dirty="0">
                <a:solidFill>
                  <a:schemeClr val="accent6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pdf </a:t>
            </a:r>
            <a:r>
              <a:rPr lang="th-TH" sz="2400" b="0" i="0" dirty="0" err="1">
                <a:solidFill>
                  <a:schemeClr val="accent6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ซูมเ</a:t>
            </a:r>
            <a:r>
              <a:rPr lang="th-TH" sz="2400" b="0" i="0" dirty="0">
                <a:solidFill>
                  <a:schemeClr val="accent6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ข้า ซูมออก </a:t>
            </a:r>
          </a:p>
          <a:p>
            <a:r>
              <a:rPr lang="th-TH" sz="2400" b="0" i="0" dirty="0">
                <a:solidFill>
                  <a:schemeClr val="accent6"/>
                </a:solidFill>
                <a:effectLst/>
                <a:latin typeface="Cordia New" panose="020B0304020202020204" pitchFamily="34" charset="-34"/>
                <a:cs typeface="Cordia New" panose="020B0304020202020204" pitchFamily="34" charset="-34"/>
              </a:rPr>
              <a:t>และ การรีเซ็ดการซูม</a:t>
            </a:r>
            <a:endParaRPr lang="en-US" sz="2400" dirty="0">
              <a:solidFill>
                <a:schemeClr val="accent6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119345E-6A53-5013-5E9C-F3EF86D6ECF9}"/>
              </a:ext>
            </a:extLst>
          </p:cNvPr>
          <p:cNvSpPr/>
          <p:nvPr/>
        </p:nvSpPr>
        <p:spPr>
          <a:xfrm>
            <a:off x="11049988" y="3568535"/>
            <a:ext cx="2167247" cy="208412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A6E04-CB1D-0E16-010B-E9042B669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DFA77-F3E9-1F35-332A-0837B3123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566" y="346725"/>
            <a:ext cx="1686312" cy="1012785"/>
          </a:xfrm>
        </p:spPr>
        <p:txBody>
          <a:bodyPr/>
          <a:lstStyle/>
          <a:p>
            <a:r>
              <a:rPr lang="th-TH" sz="4000" dirty="0">
                <a:latin typeface="Cordia New" panose="020B0304020202020204" pitchFamily="34" charset="-34"/>
                <a:cs typeface="Cordia New" panose="020B0304020202020204" pitchFamily="34" charset="-34"/>
              </a:rPr>
              <a:t>โค้ด</a:t>
            </a:r>
            <a:endParaRPr lang="en-US" sz="40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F3E458-E2B1-7CB1-C422-46123AAEBD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3A1524-B025-6027-F4F9-CC1DE0AFF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206" y="724395"/>
            <a:ext cx="3791818" cy="28083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329CE9-E933-FDFE-EB6D-04FE43FE6E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1206" y="3697085"/>
            <a:ext cx="3787203" cy="28759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136209-5A01-1B7F-0DCF-2CBB7F8E9338}"/>
              </a:ext>
            </a:extLst>
          </p:cNvPr>
          <p:cNvSpPr txBox="1"/>
          <p:nvPr/>
        </p:nvSpPr>
        <p:spPr>
          <a:xfrm>
            <a:off x="6377049" y="860961"/>
            <a:ext cx="2832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h-TH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คำนวณจำนวนหน้า </a:t>
            </a:r>
            <a:r>
              <a:rPr lang="en-US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pdf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5A8B62-8A1E-DCB8-CFA1-D60BA2F9F469}"/>
              </a:ext>
            </a:extLst>
          </p:cNvPr>
          <p:cNvSpPr txBox="1"/>
          <p:nvPr/>
        </p:nvSpPr>
        <p:spPr>
          <a:xfrm>
            <a:off x="6460176" y="3873726"/>
            <a:ext cx="6106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Highlight </a:t>
            </a:r>
            <a:r>
              <a:rPr lang="th-TH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คำให้เป็นสีเหลืองอ่อน</a:t>
            </a:r>
            <a:endParaRPr lang="en-US" sz="2400" dirty="0">
              <a:solidFill>
                <a:schemeClr val="accent6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53878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9628" y="774517"/>
            <a:ext cx="9879437" cy="980844"/>
          </a:xfrm>
        </p:spPr>
        <p:txBody>
          <a:bodyPr/>
          <a:lstStyle/>
          <a:p>
            <a:r>
              <a:rPr lang="th-TH" sz="4000" dirty="0">
                <a:latin typeface="Cordia New" panose="020B0304020202020204" pitchFamily="34" charset="-34"/>
                <a:cs typeface="Cordia New" panose="020B0304020202020204" pitchFamily="34" charset="-34"/>
              </a:rPr>
              <a:t>ปัญหาและแนวทางแก้ไข</a:t>
            </a:r>
            <a:endParaRPr lang="en-US" sz="40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5" y="2331958"/>
            <a:ext cx="7967508" cy="3704266"/>
          </a:xfrm>
        </p:spPr>
        <p:txBody>
          <a:bodyPr/>
          <a:lstStyle/>
          <a:p>
            <a:r>
              <a:rPr lang="th-TH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ปัญหาที่พบ</a:t>
            </a:r>
          </a:p>
          <a:p>
            <a:r>
              <a:rPr lang="th-TH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ช่วงที่ </a:t>
            </a:r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ai </a:t>
            </a:r>
            <a:r>
              <a:rPr lang="th-TH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กำลังคำนวณจะติดปัญหาที่ว่า หน้าจอจะค้างต้องรอให้ </a:t>
            </a:r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ai </a:t>
            </a:r>
            <a:r>
              <a:rPr lang="th-TH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ประมาณผลให้เสร็จ</a:t>
            </a:r>
          </a:p>
          <a:p>
            <a:endParaRPr lang="th-TH" sz="24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th-TH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การแก้ไขปัญหา</a:t>
            </a:r>
          </a:p>
          <a:p>
            <a:r>
              <a:rPr lang="th-TH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แก้ด้วยการให้ </a:t>
            </a:r>
            <a:r>
              <a:rPr lang="en-US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ai </a:t>
            </a:r>
            <a:r>
              <a:rPr lang="th-TH" sz="2400" dirty="0">
                <a:latin typeface="Cordia New" panose="020B0304020202020204" pitchFamily="34" charset="-34"/>
                <a:cs typeface="Cordia New" panose="020B0304020202020204" pitchFamily="34" charset="-34"/>
              </a:rPr>
              <a:t>ประมาณผลข้างหลังโปรแกรม ทำให้ตอนที่ตอนที่คำนวณ เราสามารถใช้งานฟังก์ชันอื่นได้อย่างปกติ</a:t>
            </a:r>
            <a:endParaRPr lang="en-US" sz="24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9B88E-94D9-AECA-7EAC-73EAFD3B8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B9B9EF9-5BD7-E3BD-8128-5799C3B76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6508" y="263219"/>
            <a:ext cx="4220844" cy="999746"/>
          </a:xfrm>
        </p:spPr>
        <p:txBody>
          <a:bodyPr/>
          <a:lstStyle/>
          <a:p>
            <a:r>
              <a:rPr lang="th-TH" sz="4000" dirty="0">
                <a:latin typeface="Cordia New" panose="020B0304020202020204" pitchFamily="34" charset="-34"/>
                <a:cs typeface="Cordia New" panose="020B0304020202020204" pitchFamily="34" charset="-34"/>
              </a:rPr>
              <a:t>การนำไปประยุกต์ใช้งาน</a:t>
            </a:r>
            <a:endParaRPr lang="en-US" sz="40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2F6339-C57B-5DCE-CD3F-1FFB0B6BE2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75EA6F-9686-D63F-DF3D-540A2A5B9104}"/>
              </a:ext>
            </a:extLst>
          </p:cNvPr>
          <p:cNvSpPr txBox="1"/>
          <p:nvPr/>
        </p:nvSpPr>
        <p:spPr>
          <a:xfrm>
            <a:off x="1799112" y="1822862"/>
            <a:ext cx="7653646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กลุ่มเป้าหมาย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กลุ่มนักศึกษา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งานเอกสาร</a:t>
            </a:r>
          </a:p>
          <a:p>
            <a:endParaRPr lang="th-TH" sz="2400" b="1" dirty="0">
              <a:solidFill>
                <a:schemeClr val="accent6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th-TH" sz="2800" b="1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ฟีเจอร์อื่นๆในอนาคต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เพิ่มระบบถาม-ตอบอัจฉริยะ ผู้ใช้สามารถพิมพ์คุยกับข้อความทั้งหมดที่เคยบันทึกไว้ใน </a:t>
            </a:r>
            <a:r>
              <a:rPr lang="en-US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PostgreSQL </a:t>
            </a:r>
            <a:r>
              <a:rPr lang="th-TH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ได้ โดยมี </a:t>
            </a:r>
            <a:r>
              <a:rPr lang="en-US" sz="2400" dirty="0" err="1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Ollama</a:t>
            </a:r>
            <a:r>
              <a:rPr lang="en-US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th-TH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เป็นตัวเรียบเรียงคำตอบ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เมื่อบันทึกข้อความใหม่ ระบบจะส่งให้ </a:t>
            </a:r>
            <a:r>
              <a:rPr lang="en-US" sz="2400" dirty="0" err="1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Ollama</a:t>
            </a:r>
            <a:r>
              <a:rPr lang="en-US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th-TH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วิเคราะห์และแปะแท็กจัดหมวดหมู่อัตโนมัติ (เช่น #การเรียน, #งาน) ลงฐานข้อมูลทันที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ดึงข้อความสรุปมาให้ </a:t>
            </a:r>
            <a:r>
              <a:rPr lang="en-US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AI </a:t>
            </a:r>
            <a:r>
              <a:rPr lang="th-TH" sz="2400" dirty="0">
                <a:solidFill>
                  <a:schemeClr val="accent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เจาะเป็นคำถาม-คำตอบ แปลงเป็นบัตรคำศัพท์ช่วยจำสำหรับนักศึกษา</a:t>
            </a:r>
            <a:endParaRPr lang="en-US" sz="2400" dirty="0">
              <a:solidFill>
                <a:schemeClr val="accent6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17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677886" y="422295"/>
            <a:ext cx="10511627" cy="1012785"/>
          </a:xfrm>
        </p:spPr>
        <p:txBody>
          <a:bodyPr/>
          <a:lstStyle/>
          <a:p>
            <a:r>
              <a:rPr lang="th-TH" sz="4000" dirty="0">
                <a:latin typeface="Cordia New" panose="020B0304020202020204" pitchFamily="34" charset="-34"/>
                <a:cs typeface="Cordia New" panose="020B0304020202020204" pitchFamily="34" charset="-34"/>
              </a:rPr>
              <a:t>การทำงานบน </a:t>
            </a:r>
            <a:r>
              <a:rPr lang="en-US" sz="4000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githup</a:t>
            </a:r>
            <a:r>
              <a:rPr lang="th-TH" sz="40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endParaRPr lang="en-US" sz="40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206" y="2814452"/>
            <a:ext cx="5557651" cy="1229096"/>
          </a:xfrm>
        </p:spPr>
        <p:txBody>
          <a:bodyPr/>
          <a:lstStyle/>
          <a:p>
            <a:r>
              <a:rPr lang="en-US" sz="6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purl.org/dc/terms/"/>
    <ds:schemaRef ds:uri="16c05727-aa75-4e4a-9b5f-8a80a1165891"/>
    <ds:schemaRef ds:uri="230e9df3-be65-4c73-a93b-d1236ebd677e"/>
    <ds:schemaRef ds:uri="http://www.w3.org/XML/1998/namespace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sharepoint/v3"/>
    <ds:schemaRef ds:uri="http://schemas.microsoft.com/office/infopath/2007/PartnerControls"/>
    <ds:schemaRef ds:uri="http://schemas.openxmlformats.org/package/2006/metadata/core-propertie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{B65AC131-A076-48E3-8FB4-BCA70CC320A9}TF8a9b5915-b8c7-461e-8cdd-693d48b5e32371f7b7e2_win32-4bf0b9a2ea37</Template>
  <TotalTime>436</TotalTime>
  <Words>679</Words>
  <Application>Microsoft Office PowerPoint</Application>
  <PresentationFormat>Widescreen</PresentationFormat>
  <Paragraphs>108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Black</vt:lpstr>
      <vt:lpstr>Calibri</vt:lpstr>
      <vt:lpstr>Cordia New</vt:lpstr>
      <vt:lpstr>Sabon Next LT</vt:lpstr>
      <vt:lpstr>Custom</vt:lpstr>
      <vt:lpstr>โครงงาน  find text app</vt:lpstr>
      <vt:lpstr>สมาชิกในกลุ่ม</vt:lpstr>
      <vt:lpstr>ความเป็นมา</vt:lpstr>
      <vt:lpstr>วัตถุประสงค์</vt:lpstr>
      <vt:lpstr>ฟังก์ชันของระบบ</vt:lpstr>
      <vt:lpstr>โมเดลพัฒนาซอฟต์แวร์</vt:lpstr>
      <vt:lpstr>การติดตั้งโปรแกรม</vt:lpstr>
      <vt:lpstr>โครงสร้างโครงงานในภาพรวม</vt:lpstr>
      <vt:lpstr>โค้ด</vt:lpstr>
      <vt:lpstr>โค้ด</vt:lpstr>
      <vt:lpstr>โค้ด</vt:lpstr>
      <vt:lpstr>ปัญหาและแนวทางแก้ไข</vt:lpstr>
      <vt:lpstr>การนำไปประยุกต์ใช้งาน</vt:lpstr>
      <vt:lpstr>การทำงานบน githup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itthidech.2550@gmail.com</dc:creator>
  <cp:lastModifiedBy>itthidech.2550@gmail.com</cp:lastModifiedBy>
  <cp:revision>1</cp:revision>
  <dcterms:created xsi:type="dcterms:W3CDTF">2026-10-23T23:23:33Z</dcterms:created>
  <dcterms:modified xsi:type="dcterms:W3CDTF">2026-10-24T06:39:58Z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